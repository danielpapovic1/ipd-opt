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85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6" r:id="rId17"/>
    <p:sldId id="287" r:id="rId18"/>
    <p:sldId id="288" r:id="rId19"/>
    <p:sldId id="261" r:id="rId20"/>
    <p:sldId id="257" r:id="rId21"/>
    <p:sldId id="291" r:id="rId22"/>
    <p:sldId id="289" r:id="rId23"/>
    <p:sldId id="290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62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6" d="100"/>
          <a:sy n="136" d="100"/>
        </p:scale>
        <p:origin x="864" y="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6F0A2-F3A9-4575-B554-C681D7496172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83734-649C-468F-B5DA-5502BB4FAC4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24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r>
              <a:rPr lang="en-US" altLang="en-US" sz="1200"/>
              <a:t>Part 7: Cooperation &amp; Competition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1B53F684-8A16-485E-989A-BBA62C326484}" type="datetime1">
              <a:rPr lang="en-US" altLang="en-US" sz="1200"/>
              <a:pPr/>
              <a:t>1/27/2026</a:t>
            </a:fld>
            <a:endParaRPr lang="en-US" altLang="en-US" sz="1200"/>
          </a:p>
        </p:txBody>
      </p:sp>
      <p:sp>
        <p:nvSpPr>
          <p:cNvPr id="235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ED6C4362-33C0-4B60-B09C-96E255586DC7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235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/>
              <a:ea typeface="ＭＳ Ｐゴシック" pitchFamily="-65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r>
              <a:rPr lang="en-US" altLang="en-US" sz="1200"/>
              <a:t>Part 7: Cooperation &amp; Competition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FB7839E8-9DC2-469E-A2A2-EC35BB475766}" type="datetime1">
              <a:rPr lang="en-US" altLang="en-US" sz="1200"/>
              <a:pPr/>
              <a:t>1/27/2026</a:t>
            </a:fld>
            <a:endParaRPr lang="en-US" altLang="en-US" sz="1200"/>
          </a:p>
        </p:txBody>
      </p:sp>
      <p:sp>
        <p:nvSpPr>
          <p:cNvPr id="256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9E41AF86-5A43-464D-9435-F6BB21643FED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25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/>
              <a:ea typeface="ＭＳ Ｐゴシック" pitchFamily="-65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r>
              <a:rPr lang="en-US" altLang="en-US" sz="1200"/>
              <a:t>Part 7: Cooperation &amp; Competition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9D8D4A6E-6690-4979-B727-9A263800AFA2}" type="datetime1">
              <a:rPr lang="en-US" altLang="en-US" sz="1200"/>
              <a:pPr/>
              <a:t>1/27/2026</a:t>
            </a:fld>
            <a:endParaRPr lang="en-US" altLang="en-US" sz="1200"/>
          </a:p>
        </p:txBody>
      </p:sp>
      <p:sp>
        <p:nvSpPr>
          <p:cNvPr id="276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F9B399CA-08C4-4C8D-BDFF-B1C87739DC47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276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/>
              <a:ea typeface="ＭＳ Ｐゴシック" pitchFamily="-65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r>
              <a:rPr lang="en-US" altLang="en-US" sz="1200"/>
              <a:t>Part 7: Cooperation &amp; Competition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6A23327F-AF38-42D5-9F94-0D66D7001415}" type="datetime1">
              <a:rPr lang="en-US" altLang="en-US" sz="1200"/>
              <a:pPr/>
              <a:t>1/27/2026</a:t>
            </a:fld>
            <a:endParaRPr lang="en-US" altLang="en-US" sz="1200"/>
          </a:p>
        </p:txBody>
      </p:sp>
      <p:sp>
        <p:nvSpPr>
          <p:cNvPr id="297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3C5D13F3-F728-469A-BBF1-667BB049EC36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297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/>
              <a:ea typeface="ＭＳ Ｐゴシック" pitchFamily="-65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r>
              <a:rPr lang="en-US" altLang="en-US" sz="1200"/>
              <a:t>Part 7: Cooperation &amp; Competition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1D61EDCC-9168-401F-82F4-F242544104AE}" type="datetime1">
              <a:rPr lang="en-US" altLang="en-US" sz="1200"/>
              <a:pPr/>
              <a:t>1/27/2026</a:t>
            </a:fld>
            <a:endParaRPr lang="en-US" altLang="en-US" sz="1200"/>
          </a:p>
        </p:txBody>
      </p:sp>
      <p:sp>
        <p:nvSpPr>
          <p:cNvPr id="317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DF8EF0F2-0409-40D4-832D-0FC35593F731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317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/>
              <a:ea typeface="ＭＳ Ｐゴシック" pitchFamily="-65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r>
              <a:rPr lang="en-US" altLang="en-US" sz="1200"/>
              <a:t>Part 7: Cooperation &amp; Competition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C29D04B2-469B-43AE-ACD0-C32098799189}" type="datetime1">
              <a:rPr lang="en-US" altLang="en-US" sz="1200"/>
              <a:pPr/>
              <a:t>1/27/2026</a:t>
            </a:fld>
            <a:endParaRPr lang="en-US" altLang="en-US" sz="1200"/>
          </a:p>
        </p:txBody>
      </p:sp>
      <p:sp>
        <p:nvSpPr>
          <p:cNvPr id="337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0F292049-E818-4789-A7D8-B7E71CCBAE4B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337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/>
              <a:ea typeface="ＭＳ Ｐゴシック" pitchFamily="-65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r>
              <a:rPr lang="en-US" altLang="en-US" sz="1200"/>
              <a:t>Part 7: Cooperation &amp; Competition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9DC9C583-0381-4250-B22B-2B45450E2A36}" type="datetime1">
              <a:rPr lang="en-US" altLang="en-US" sz="1200"/>
              <a:pPr/>
              <a:t>1/27/2026</a:t>
            </a:fld>
            <a:endParaRPr lang="en-US" altLang="en-US" sz="1200"/>
          </a:p>
        </p:txBody>
      </p:sp>
      <p:sp>
        <p:nvSpPr>
          <p:cNvPr id="358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9038C12F-78BA-41AD-9689-CAF754FB3DCD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358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/>
              <a:ea typeface="ＭＳ Ｐゴシック" pitchFamily="-65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r>
              <a:rPr lang="en-US" altLang="en-US" sz="1200"/>
              <a:t>Part 7: Cooperation &amp; Competition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247560CD-6B7D-4088-A84B-35E59188AEEF}" type="datetime1">
              <a:rPr lang="en-US" altLang="en-US" sz="1200"/>
              <a:pPr/>
              <a:t>1/27/2026</a:t>
            </a:fld>
            <a:endParaRPr lang="en-US" altLang="en-US" sz="1200"/>
          </a:p>
        </p:txBody>
      </p:sp>
      <p:sp>
        <p:nvSpPr>
          <p:cNvPr id="399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4614D846-A172-4FA4-8D10-21C2046ACBDC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399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"/>
              <a:ea typeface="ＭＳ Ｐゴシック" pitchFamily="-65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r>
              <a:rPr lang="en-US" altLang="en-US" sz="1200"/>
              <a:t>Part 7: Cooperation &amp; Competition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271917A5-954E-4C83-BBF0-6A58ED50B1D1}" type="datetime1">
              <a:rPr lang="en-US" altLang="en-US" sz="1200"/>
              <a:pPr/>
              <a:t>1/27/2026</a:t>
            </a:fld>
            <a:endParaRPr lang="en-US" altLang="en-US" sz="1200"/>
          </a:p>
        </p:txBody>
      </p:sp>
      <p:sp>
        <p:nvSpPr>
          <p:cNvPr id="419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1C60241C-9A7A-4CD1-93C0-6F238D69CC1F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419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The alternating defection/cooperation would be interesting in itself, but here the goal is to understand the circumstances under which mutual cooperation may emerge.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r>
              <a:rPr lang="en-US" altLang="en-US" sz="1200"/>
              <a:t>Part 7: Cooperation &amp; Competition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F01C6B5B-620C-4D9B-B585-C9C54014D654}" type="datetime1">
              <a:rPr lang="en-US" altLang="en-US" sz="1200"/>
              <a:pPr/>
              <a:t>1/27/2026</a:t>
            </a:fld>
            <a:endParaRPr lang="en-US" altLang="en-US" sz="1200"/>
          </a:p>
        </p:txBody>
      </p:sp>
      <p:sp>
        <p:nvSpPr>
          <p:cNvPr id="440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BEF77693-35C0-4AD7-B2DB-6C6E87DA0019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440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Axelrod’s first tournament was for a fixed number of rounds (200).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For the second, there was a fixed probability (“the shadow of the future”) of ending on the next move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(Axelrod &amp; Dion)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r>
              <a:rPr lang="en-US" altLang="en-US" sz="1200"/>
              <a:t>Part 7: Cooperation &amp; Competition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245515D8-0B98-45D8-BC6A-CB5FDC2F44F9}" type="datetime1">
              <a:rPr lang="en-US" altLang="en-US" sz="1200"/>
              <a:pPr/>
              <a:t>1/27/2026</a:t>
            </a:fld>
            <a:endParaRPr lang="en-US" altLang="en-US" sz="1200"/>
          </a:p>
        </p:txBody>
      </p:sp>
      <p:sp>
        <p:nvSpPr>
          <p:cNvPr id="460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73DBA83F-2937-4466-8026-BBB5D1B6F8C8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460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ALL-D: the safest strategy; cannot be beat or exploited; good at exploiting;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	does poorly against self or nasty strategies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	thus it optimizes local (own) fitness at expense of population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ALL-C: does well when interacting with self or other nice strategies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	endlessly exploited by ALL-D and other nasty strategies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RAND: a compromise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	somewhat resistant to exploitation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	can occasionally exploit others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	does reasonably well against self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r>
              <a:rPr lang="en-US" altLang="en-US" sz="1200"/>
              <a:t>Part 7: Cooperation &amp; Competition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A941BE26-019C-4061-B97E-662FC2F4C50C}" type="datetime1">
              <a:rPr lang="en-US" altLang="en-US" sz="1200"/>
              <a:pPr/>
              <a:t>1/27/2026</a:t>
            </a:fld>
            <a:endParaRPr lang="en-US" altLang="en-US" sz="1200"/>
          </a:p>
        </p:txBody>
      </p:sp>
      <p:sp>
        <p:nvSpPr>
          <p:cNvPr id="481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67A670E8-7AA2-4201-B406-721D96D1E708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481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Average is for a population with all three distributed equally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Go across ALL-C row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Then across ALL-D row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Finally across RAND row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ALL-D’s avg score equals the best ALL-C can ever get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	but does poorly against self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If we have survival of fittest, then in long term ALL-D does worse than other (look at diagonal)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ALL-D can survive only if it has “suckers” to exploit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r>
              <a:rPr lang="en-US" altLang="en-US" sz="1200"/>
              <a:t>Part 7: Cooperation &amp; Competition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25FF1658-F9E1-45AB-B4E5-B8BF782B77E3}" type="datetime1">
              <a:rPr lang="en-US" altLang="en-US" sz="1200"/>
              <a:pPr/>
              <a:t>1/27/2026</a:t>
            </a:fld>
            <a:endParaRPr lang="en-US" altLang="en-US" sz="1200"/>
          </a:p>
        </p:txBody>
      </p:sp>
      <p:sp>
        <p:nvSpPr>
          <p:cNvPr id="501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272CCE04-0B5F-4613-AD8E-06295961C42F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501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/>
              <a:ea typeface="ＭＳ Ｐゴシック" pitchFamily="-65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r>
              <a:rPr lang="en-US" altLang="en-US" sz="1200"/>
              <a:t>Part 7: Cooperation &amp; Competition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E0872D20-D12D-464F-B064-FF49136A6DFB}" type="datetime1">
              <a:rPr lang="en-US" altLang="en-US" sz="1200"/>
              <a:pPr/>
              <a:t>1/27/2026</a:t>
            </a:fld>
            <a:endParaRPr lang="en-US" altLang="en-US" sz="1200"/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03A13AEC-9629-420F-8BB7-56BCE6ED3BB5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Average is for a population with all three distributed equally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Go across ALL-C row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Then across ALL-D row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Finally across RAND row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ALL-D’s avg score equals the best ALL-C can ever get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	but does poorly against self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If we have survival of fittest, then in long term ALL-D does worse than other (look at diagonal)</a:t>
            </a:r>
          </a:p>
          <a:p>
            <a:pPr eaLnBrk="1" hangingPunct="1"/>
            <a:r>
              <a:rPr lang="en-US" altLang="en-US">
                <a:latin typeface="Times"/>
                <a:ea typeface="ＭＳ Ｐゴシック" pitchFamily="-65" charset="-128"/>
              </a:rPr>
              <a:t>ALL-D can survive only if it has “suckers” to exploit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8187568-052C-4403-AD1D-7A6E42579BD4}" type="slidenum">
              <a:rPr lang="en-GB" altLang="en-US"/>
              <a:pPr/>
              <a:t>19</a:t>
            </a:fld>
            <a:endParaRPr lang="en-GB" altLang="en-US"/>
          </a:p>
        </p:txBody>
      </p:sp>
      <p:sp>
        <p:nvSpPr>
          <p:cNvPr id="2662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62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5043" y="4343693"/>
            <a:ext cx="5026311" cy="411245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E46F-72F6-4CD9-9AE1-213E126CB4D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D35C-3C02-48F4-942D-86F62F41030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71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E46F-72F6-4CD9-9AE1-213E126CB4D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D35C-3C02-48F4-942D-86F62F41030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08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E46F-72F6-4CD9-9AE1-213E126CB4D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D35C-3C02-48F4-942D-86F62F41030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25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E46F-72F6-4CD9-9AE1-213E126CB4D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D35C-3C02-48F4-942D-86F62F41030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E46F-72F6-4CD9-9AE1-213E126CB4D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D35C-3C02-48F4-942D-86F62F41030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49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E46F-72F6-4CD9-9AE1-213E126CB4D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D35C-3C02-48F4-942D-86F62F41030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09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E46F-72F6-4CD9-9AE1-213E126CB4D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D35C-3C02-48F4-942D-86F62F41030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10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E46F-72F6-4CD9-9AE1-213E126CB4D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D35C-3C02-48F4-942D-86F62F41030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39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E46F-72F6-4CD9-9AE1-213E126CB4D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D35C-3C02-48F4-942D-86F62F41030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6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E46F-72F6-4CD9-9AE1-213E126CB4D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D35C-3C02-48F4-942D-86F62F41030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45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E46F-72F6-4CD9-9AE1-213E126CB4D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D35C-3C02-48F4-942D-86F62F41030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4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C52956-BADC-4E97-9835-59724B3D26B7}" type="datetime1">
              <a:rPr lang="en-US" altLang="en-US"/>
              <a:pPr/>
              <a:t>1/27/2026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74F84E-0ED1-483A-B5F6-C0A66DCE6884}" type="slidenum">
              <a:rPr lang="en-US" altLang="en-US"/>
              <a:pPr/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2614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DE46F-72F6-4CD9-9AE1-213E126CB4D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2D35C-3C02-48F4-942D-86F62F41030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7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C244FDC0-8AD0-4619-90E8-689F831363FB}" type="datetime1">
              <a:rPr lang="en-US" altLang="en-US" sz="1400"/>
              <a:pPr/>
              <a:t>1/27/2026</a:t>
            </a:fld>
            <a:endParaRPr lang="en-US" altLang="en-US" sz="1400"/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50FE6049-E34D-46B5-B243-1F29CC369DC2}" type="slidenum">
              <a:rPr lang="en-US" altLang="en-US" sz="1400"/>
              <a:pPr/>
              <a:t>1</a:t>
            </a:fld>
            <a:endParaRPr lang="en-US" altLang="en-US" sz="1400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itchFamily="-65" charset="-128"/>
              </a:rPr>
              <a:t>Prisoners’ Dilemma: The Story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077200" cy="4800600"/>
          </a:xfrm>
        </p:spPr>
        <p:txBody>
          <a:bodyPr>
            <a:normAutofit fontScale="92500" lnSpcReduction="20000"/>
          </a:bodyPr>
          <a:lstStyle/>
          <a:p>
            <a:pPr marL="339725" indent="-339725">
              <a:spcBef>
                <a:spcPts val="600"/>
              </a:spcBef>
              <a:buFont typeface="Times New Roman" pitchFamily="16" charset="0"/>
              <a:buChar char="•"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r>
              <a:rPr lang="en-GB" altLang="en-US" dirty="0"/>
              <a:t>Invented by Merrill Flood &amp; Melvin Dresher in 1950s</a:t>
            </a:r>
          </a:p>
          <a:p>
            <a:pPr marL="339725" indent="-339725">
              <a:spcBef>
                <a:spcPts val="600"/>
              </a:spcBef>
              <a:buFont typeface="Times New Roman" pitchFamily="16" charset="0"/>
              <a:buChar char="•"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r>
              <a:rPr lang="en-GB" altLang="en-US" dirty="0"/>
              <a:t>Studied in game theory, economics, political science</a:t>
            </a:r>
            <a:endParaRPr lang="en-US" altLang="en-US" dirty="0"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ＭＳ Ｐゴシック" pitchFamily="-65" charset="-128"/>
              </a:rPr>
              <a:t>Two criminals have been caught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ＭＳ Ｐゴシック" pitchFamily="-65" charset="-128"/>
              </a:rPr>
              <a:t>They cannot communicate with each other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ＭＳ Ｐゴシック" pitchFamily="-65" charset="-128"/>
              </a:rPr>
              <a:t>If both confess, they will each get 10 years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ＭＳ Ｐゴシック" pitchFamily="-65" charset="-128"/>
              </a:rPr>
              <a:t>If one confesses and accuses other: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ＭＳ Ｐゴシック" pitchFamily="-65" charset="-128"/>
              </a:rPr>
              <a:t>confessor goes free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ＭＳ Ｐゴシック" pitchFamily="-65" charset="-128"/>
              </a:rPr>
              <a:t>accused gets 20 years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ＭＳ Ｐゴシック" pitchFamily="-65" charset="-128"/>
              </a:rPr>
              <a:t>If neither confesses, they will both get 1 year on a lesser charge</a:t>
            </a:r>
          </a:p>
        </p:txBody>
      </p:sp>
    </p:spTree>
    <p:extLst>
      <p:ext uri="{BB962C8B-B14F-4D97-AF65-F5344CB8AC3E}">
        <p14:creationId xmlns:p14="http://schemas.microsoft.com/office/powerpoint/2010/main" val="289303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E49E9AD0-89E4-4A25-8967-BBA2B831DF32}" type="datetime1">
              <a:rPr lang="en-US" altLang="en-US" sz="1400"/>
              <a:pPr/>
              <a:t>1/27/2026</a:t>
            </a:fld>
            <a:endParaRPr lang="en-US" altLang="en-US" sz="1400"/>
          </a:p>
        </p:txBody>
      </p:sp>
      <p:sp>
        <p:nvSpPr>
          <p:cNvPr id="2457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BB40CFB9-DF64-42C9-9793-1E79ADF412D2}" type="slidenum">
              <a:rPr lang="en-US" altLang="en-US" sz="1400"/>
              <a:pPr/>
              <a:t>2</a:t>
            </a:fld>
            <a:endParaRPr lang="en-US" altLang="en-US" sz="1400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itchFamily="-65" charset="-128"/>
              </a:rPr>
              <a:t>Prisoners’ Dilemma</a:t>
            </a:r>
            <a:br>
              <a:rPr lang="en-US" altLang="en-US">
                <a:ea typeface="ＭＳ Ｐゴシック" pitchFamily="-65" charset="-128"/>
              </a:rPr>
            </a:br>
            <a:r>
              <a:rPr lang="en-US" altLang="en-US">
                <a:ea typeface="ＭＳ Ｐゴシック" pitchFamily="-65" charset="-128"/>
              </a:rPr>
              <a:t>Payoff Matrix</a:t>
            </a:r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685800" y="5029200"/>
            <a:ext cx="7772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/>
              <a:t>defect = confess, cooperate = don’t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/>
              <a:t>payoffs &lt; 0 because punishments (losses)</a:t>
            </a:r>
          </a:p>
        </p:txBody>
      </p:sp>
      <p:graphicFrame>
        <p:nvGraphicFramePr>
          <p:cNvPr id="65575" name="Group 39"/>
          <p:cNvGraphicFramePr>
            <a:graphicFrameLocks noGrp="1"/>
          </p:cNvGraphicFramePr>
          <p:nvPr>
            <p:ph type="tbl" idx="1"/>
          </p:nvPr>
        </p:nvGraphicFramePr>
        <p:xfrm>
          <a:off x="685800" y="1981200"/>
          <a:ext cx="7772400" cy="2819400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4850">
                <a:tc rowSpan="2"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ＭＳ Ｐゴシック" pitchFamily="-65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Bob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cooperate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defect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Ann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cooperate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–1, –1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–20, 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defect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0, –20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–10, –10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617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E6E4097E-71B4-4C3E-8D0E-5D1595C1EF94}" type="datetime1">
              <a:rPr lang="en-US" altLang="en-US" sz="1400"/>
              <a:pPr/>
              <a:t>1/27/2026</a:t>
            </a:fld>
            <a:endParaRPr lang="en-US" altLang="en-US" sz="1400"/>
          </a:p>
        </p:txBody>
      </p:sp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C8E620E4-605F-4E7C-A5C6-D8D6A3930656}" type="slidenum">
              <a:rPr lang="en-US" altLang="en-US" sz="1400"/>
              <a:pPr/>
              <a:t>3</a:t>
            </a:fld>
            <a:endParaRPr lang="en-US" altLang="en-US" sz="1400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itchFamily="-65" charset="-128"/>
              </a:rPr>
              <a:t>Ann’s “Rational” Analysis</a:t>
            </a:r>
            <a:br>
              <a:rPr lang="en-US" altLang="en-US">
                <a:ea typeface="ＭＳ Ｐゴシック" pitchFamily="-65" charset="-128"/>
              </a:rPr>
            </a:br>
            <a:r>
              <a:rPr lang="en-US" altLang="en-US">
                <a:ea typeface="ＭＳ Ｐゴシック" pitchFamily="-65" charset="-128"/>
              </a:rPr>
              <a:t>(Dominant Strategy)</a:t>
            </a:r>
          </a:p>
        </p:txBody>
      </p:sp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685800" y="4953000"/>
            <a:ext cx="7772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/>
              <a:t>if cooperates, may get 20 years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/>
              <a:t>if defects, may get 10 years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>
                <a:sym typeface="Symbol" pitchFamily="-111" charset="2"/>
              </a:rPr>
              <a:t></a:t>
            </a:r>
            <a:r>
              <a:rPr lang="en-US" altLang="en-US"/>
              <a:t>, best to defect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/>
          </a:p>
        </p:txBody>
      </p:sp>
      <p:graphicFrame>
        <p:nvGraphicFramePr>
          <p:cNvPr id="67588" name="Group 4"/>
          <p:cNvGraphicFramePr>
            <a:graphicFrameLocks noGrp="1"/>
          </p:cNvGraphicFramePr>
          <p:nvPr>
            <p:ph type="tbl" idx="1"/>
          </p:nvPr>
        </p:nvGraphicFramePr>
        <p:xfrm>
          <a:off x="685800" y="1981200"/>
          <a:ext cx="7772400" cy="2819400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4850">
                <a:tc rowSpan="2"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ＭＳ Ｐゴシック" pitchFamily="-65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Bob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cooperate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defect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Ann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cooperate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–1, –1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–20, 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defect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0, –20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–10, –10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7610" name="AutoShape 26"/>
          <p:cNvSpPr>
            <a:spLocks noChangeArrowheads="1"/>
          </p:cNvSpPr>
          <p:nvPr/>
        </p:nvSpPr>
        <p:spPr bwMode="auto">
          <a:xfrm>
            <a:off x="2667000" y="4114800"/>
            <a:ext cx="5715000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>
                  <a:alpha val="10001"/>
                </a:schemeClr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Times" pitchFamily="-111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3343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 autoUpdateAnimBg="0"/>
      <p:bldP spid="676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BED7726F-B0CB-41A3-8515-2299EF3B8416}" type="datetime1">
              <a:rPr lang="en-US" altLang="en-US" sz="1400"/>
              <a:pPr/>
              <a:t>1/27/2026</a:t>
            </a:fld>
            <a:endParaRPr lang="en-US" altLang="en-US" sz="1400"/>
          </a:p>
        </p:txBody>
      </p:sp>
      <p:sp>
        <p:nvSpPr>
          <p:cNvPr id="286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91C995C1-A3A8-47E9-8B3B-6D4CABDCA9EE}" type="slidenum">
              <a:rPr lang="en-US" altLang="en-US" sz="1400"/>
              <a:pPr/>
              <a:t>4</a:t>
            </a:fld>
            <a:endParaRPr lang="en-US" altLang="en-US" sz="1400"/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itchFamily="-65" charset="-128"/>
              </a:rPr>
              <a:t>Bob’s “Rational” Analysis</a:t>
            </a:r>
            <a:br>
              <a:rPr lang="en-US" altLang="en-US">
                <a:ea typeface="ＭＳ Ｐゴシック" pitchFamily="-65" charset="-128"/>
              </a:rPr>
            </a:br>
            <a:r>
              <a:rPr lang="en-US" altLang="en-US">
                <a:ea typeface="ＭＳ Ｐゴシック" pitchFamily="-65" charset="-128"/>
              </a:rPr>
              <a:t>(Dominant Strategy)</a:t>
            </a:r>
          </a:p>
        </p:txBody>
      </p:sp>
      <p:sp>
        <p:nvSpPr>
          <p:cNvPr id="28677" name="Rectangle 3"/>
          <p:cNvSpPr>
            <a:spLocks noChangeArrowheads="1"/>
          </p:cNvSpPr>
          <p:nvPr/>
        </p:nvSpPr>
        <p:spPr bwMode="auto">
          <a:xfrm>
            <a:off x="685800" y="4953000"/>
            <a:ext cx="7772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/>
              <a:t>if he cooperates, may get 20 years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/>
              <a:t>if he defects, may get 10 years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>
                <a:sym typeface="Symbol" pitchFamily="-111" charset="2"/>
              </a:rPr>
              <a:t></a:t>
            </a:r>
            <a:r>
              <a:rPr lang="en-US" altLang="en-US"/>
              <a:t>, best to defect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/>
          </a:p>
        </p:txBody>
      </p:sp>
      <p:graphicFrame>
        <p:nvGraphicFramePr>
          <p:cNvPr id="68612" name="Group 4"/>
          <p:cNvGraphicFramePr>
            <a:graphicFrameLocks noGrp="1"/>
          </p:cNvGraphicFramePr>
          <p:nvPr>
            <p:ph type="tbl" idx="1"/>
          </p:nvPr>
        </p:nvGraphicFramePr>
        <p:xfrm>
          <a:off x="685800" y="1981200"/>
          <a:ext cx="7772400" cy="2819400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4850">
                <a:tc rowSpan="2"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ＭＳ Ｐゴシック" pitchFamily="-65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Bob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cooperate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defect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Ann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cooperate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–1, –1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–20, 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defect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0, –20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–10, –10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8635" name="AutoShape 27"/>
          <p:cNvSpPr>
            <a:spLocks noChangeArrowheads="1"/>
          </p:cNvSpPr>
          <p:nvPr/>
        </p:nvSpPr>
        <p:spPr bwMode="auto">
          <a:xfrm>
            <a:off x="6553200" y="2743200"/>
            <a:ext cx="1828800" cy="1981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6666">
                  <a:gamma/>
                  <a:shade val="46275"/>
                  <a:invGamma/>
                </a:srgbClr>
              </a:gs>
              <a:gs pos="50000">
                <a:srgbClr val="FF6666">
                  <a:alpha val="10001"/>
                </a:srgbClr>
              </a:gs>
              <a:gs pos="100000">
                <a:srgbClr val="FF6666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Times" pitchFamily="-111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1165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D6A89479-699E-46D7-BFEE-AF2B2470095F}" type="datetime1">
              <a:rPr lang="en-US" altLang="en-US" sz="1400"/>
              <a:pPr/>
              <a:t>1/27/2026</a:t>
            </a:fld>
            <a:endParaRPr lang="en-US" altLang="en-US" sz="1400"/>
          </a:p>
        </p:txBody>
      </p:sp>
      <p:sp>
        <p:nvSpPr>
          <p:cNvPr id="307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BAD08335-D7F8-4B73-88A8-1E2200601F82}" type="slidenum">
              <a:rPr lang="en-US" altLang="en-US" sz="1400"/>
              <a:pPr/>
              <a:t>5</a:t>
            </a:fld>
            <a:endParaRPr lang="en-US" altLang="en-US" sz="1400"/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itchFamily="-65" charset="-128"/>
              </a:rPr>
              <a:t>Suboptimal Result of</a:t>
            </a:r>
            <a:br>
              <a:rPr lang="en-US" altLang="en-US">
                <a:ea typeface="ＭＳ Ｐゴシック" pitchFamily="-65" charset="-128"/>
              </a:rPr>
            </a:br>
            <a:r>
              <a:rPr lang="en-US" altLang="en-US">
                <a:ea typeface="ＭＳ Ｐゴシック" pitchFamily="-65" charset="-128"/>
              </a:rPr>
              <a:t>“Rational” Analysis</a:t>
            </a: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685800" y="4953000"/>
            <a:ext cx="7772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/>
              <a:t>each acts individually rationally </a:t>
            </a:r>
            <a:r>
              <a:rPr lang="en-US" altLang="en-US">
                <a:sym typeface="Symbol" pitchFamily="-111" charset="2"/>
              </a:rPr>
              <a:t></a:t>
            </a:r>
            <a:r>
              <a:rPr lang="en-US" altLang="en-US"/>
              <a:t> get 10 years</a:t>
            </a:r>
            <a:br>
              <a:rPr lang="en-US" altLang="en-US"/>
            </a:br>
            <a:r>
              <a:rPr lang="en-US" altLang="en-US"/>
              <a:t>(dominant strategy equilibrium)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/>
              <a:t>“irrationally” decide to cooperate </a:t>
            </a:r>
            <a:r>
              <a:rPr lang="en-US" altLang="en-US">
                <a:sym typeface="Symbol" pitchFamily="-111" charset="2"/>
              </a:rPr>
              <a:t></a:t>
            </a:r>
            <a:r>
              <a:rPr lang="en-US" altLang="en-US"/>
              <a:t> only 1 year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/>
          </a:p>
        </p:txBody>
      </p:sp>
      <p:graphicFrame>
        <p:nvGraphicFramePr>
          <p:cNvPr id="69636" name="Group 4"/>
          <p:cNvGraphicFramePr>
            <a:graphicFrameLocks noGrp="1"/>
          </p:cNvGraphicFramePr>
          <p:nvPr>
            <p:ph type="tbl" idx="1"/>
          </p:nvPr>
        </p:nvGraphicFramePr>
        <p:xfrm>
          <a:off x="685800" y="1981200"/>
          <a:ext cx="7772400" cy="2819400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4850">
                <a:tc rowSpan="2"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ＭＳ Ｐゴシック" pitchFamily="-65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Bob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cooperate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defect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Ann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cooperate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–1, –1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–20, 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defect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0, –20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–10, –10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9658" name="AutoShape 26"/>
          <p:cNvSpPr>
            <a:spLocks noChangeArrowheads="1"/>
          </p:cNvSpPr>
          <p:nvPr/>
        </p:nvSpPr>
        <p:spPr bwMode="auto">
          <a:xfrm>
            <a:off x="6553200" y="2743200"/>
            <a:ext cx="1828800" cy="1981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6666">
                  <a:gamma/>
                  <a:shade val="46275"/>
                  <a:invGamma/>
                </a:srgbClr>
              </a:gs>
              <a:gs pos="50000">
                <a:srgbClr val="FF6666">
                  <a:alpha val="10001"/>
                </a:srgbClr>
              </a:gs>
              <a:gs pos="100000">
                <a:srgbClr val="FF6666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Times" pitchFamily="-111" charset="0"/>
              <a:ea typeface="+mn-ea"/>
            </a:endParaRPr>
          </a:p>
        </p:txBody>
      </p:sp>
      <p:sp>
        <p:nvSpPr>
          <p:cNvPr id="69659" name="AutoShape 27"/>
          <p:cNvSpPr>
            <a:spLocks noChangeArrowheads="1"/>
          </p:cNvSpPr>
          <p:nvPr/>
        </p:nvSpPr>
        <p:spPr bwMode="auto">
          <a:xfrm>
            <a:off x="2667000" y="4114800"/>
            <a:ext cx="5715000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>
                  <a:alpha val="10001"/>
                </a:schemeClr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Times" pitchFamily="-111" charset="0"/>
              <a:ea typeface="+mn-ea"/>
            </a:endParaRPr>
          </a:p>
        </p:txBody>
      </p:sp>
      <p:sp>
        <p:nvSpPr>
          <p:cNvPr id="69660" name="AutoShape 28"/>
          <p:cNvSpPr>
            <a:spLocks noChangeArrowheads="1"/>
          </p:cNvSpPr>
          <p:nvPr/>
        </p:nvSpPr>
        <p:spPr bwMode="auto">
          <a:xfrm>
            <a:off x="4648200" y="3429000"/>
            <a:ext cx="1828800" cy="6096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FF00">
                  <a:alpha val="10001"/>
                </a:srgbClr>
              </a:gs>
              <a:gs pos="100000">
                <a:srgbClr val="0076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367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 autoUpdateAnimBg="0"/>
      <p:bldP spid="6966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D811A5F6-09DE-4AB9-B2A9-624337895693}" type="datetime1">
              <a:rPr lang="en-US" altLang="en-US" sz="1400"/>
              <a:pPr/>
              <a:t>1/27/2026</a:t>
            </a:fld>
            <a:endParaRPr lang="en-US" altLang="en-US" sz="1400"/>
          </a:p>
        </p:txBody>
      </p:sp>
      <p:sp>
        <p:nvSpPr>
          <p:cNvPr id="327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9B938370-FAE0-48F6-8EBF-2C7C0B0008EC}" type="slidenum">
              <a:rPr lang="en-US" altLang="en-US" sz="1400"/>
              <a:pPr/>
              <a:t>6</a:t>
            </a:fld>
            <a:endParaRPr lang="en-US" altLang="en-US" sz="1400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itchFamily="-65" charset="-128"/>
              </a:rPr>
              <a:t>Summary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648200"/>
          </a:xfrm>
        </p:spPr>
        <p:txBody>
          <a:bodyPr/>
          <a:lstStyle/>
          <a:p>
            <a:pPr eaLnBrk="1" hangingPunct="1"/>
            <a:r>
              <a:rPr lang="en-US" altLang="en-US" sz="2800">
                <a:ea typeface="ＭＳ Ｐゴシック" pitchFamily="-65" charset="-128"/>
              </a:rPr>
              <a:t>Individually rational actions lead to a result that all agree is less desirable</a:t>
            </a:r>
          </a:p>
          <a:p>
            <a:pPr eaLnBrk="1" hangingPunct="1"/>
            <a:r>
              <a:rPr lang="en-US" altLang="en-US" sz="2800">
                <a:ea typeface="ＭＳ Ｐゴシック" pitchFamily="-65" charset="-128"/>
              </a:rPr>
              <a:t>In such a situation you cannot act unilaterally in your own best interest</a:t>
            </a:r>
          </a:p>
          <a:p>
            <a:pPr eaLnBrk="1" hangingPunct="1"/>
            <a:r>
              <a:rPr lang="en-US" altLang="en-US" sz="2800">
                <a:ea typeface="ＭＳ Ｐゴシック" pitchFamily="-65" charset="-128"/>
              </a:rPr>
              <a:t>Just one example of a (game-theoretic) </a:t>
            </a:r>
            <a:r>
              <a:rPr lang="en-US" altLang="en-US" sz="2800" i="1">
                <a:ea typeface="ＭＳ Ｐゴシック" pitchFamily="-65" charset="-128"/>
              </a:rPr>
              <a:t>dilemma</a:t>
            </a:r>
            <a:endParaRPr lang="en-US" altLang="en-US" sz="2800">
              <a:ea typeface="ＭＳ Ｐゴシック" pitchFamily="-65" charset="-128"/>
            </a:endParaRPr>
          </a:p>
          <a:p>
            <a:pPr eaLnBrk="1" hangingPunct="1"/>
            <a:r>
              <a:rPr lang="en-US" altLang="en-US" sz="2800">
                <a:ea typeface="ＭＳ Ｐゴシック" pitchFamily="-65" charset="-128"/>
              </a:rPr>
              <a:t>Can there be a situation in which it would make sense to cooperate unilaterally?</a:t>
            </a:r>
          </a:p>
          <a:p>
            <a:pPr lvl="1" eaLnBrk="1" hangingPunct="1"/>
            <a:r>
              <a:rPr lang="en-US" altLang="en-US" sz="2400" b="1">
                <a:ea typeface="ＭＳ Ｐゴシック" pitchFamily="-65" charset="-128"/>
              </a:rPr>
              <a:t>Yes</a:t>
            </a:r>
            <a:r>
              <a:rPr lang="en-US" altLang="en-US" sz="2400">
                <a:ea typeface="ＭＳ Ｐゴシック" pitchFamily="-65" charset="-128"/>
              </a:rPr>
              <a:t>, if the players can expect to interact again in the future</a:t>
            </a:r>
          </a:p>
        </p:txBody>
      </p:sp>
    </p:spTree>
    <p:extLst>
      <p:ext uri="{BB962C8B-B14F-4D97-AF65-F5344CB8AC3E}">
        <p14:creationId xmlns:p14="http://schemas.microsoft.com/office/powerpoint/2010/main" val="420238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E7AD2B05-1C36-4DEA-908B-46A798C99A36}" type="datetime1">
              <a:rPr lang="en-US" altLang="en-US" sz="1400"/>
              <a:pPr/>
              <a:t>1/27/2026</a:t>
            </a:fld>
            <a:endParaRPr lang="en-US" altLang="en-US" sz="1400"/>
          </a:p>
        </p:txBody>
      </p:sp>
      <p:sp>
        <p:nvSpPr>
          <p:cNvPr id="348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09575F2A-0692-449B-9498-05460FD494F2}" type="slidenum">
              <a:rPr lang="en-US" altLang="en-US" sz="1400"/>
              <a:pPr/>
              <a:t>7</a:t>
            </a:fld>
            <a:endParaRPr lang="en-US" altLang="en-US" sz="1400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itchFamily="-65" charset="-128"/>
              </a:rPr>
              <a:t>The Iterated Prisoners’ Dilemma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9906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itchFamily="-65" charset="-128"/>
              </a:rPr>
              <a:t>and Robert Axelrod’s Experiments</a:t>
            </a:r>
          </a:p>
        </p:txBody>
      </p:sp>
    </p:spTree>
    <p:extLst>
      <p:ext uri="{BB962C8B-B14F-4D97-AF65-F5344CB8AC3E}">
        <p14:creationId xmlns:p14="http://schemas.microsoft.com/office/powerpoint/2010/main" val="2032774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Iterated Game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In simulation, the endpoint of the game is unknown to the players, making it essentially an infinitely iterated game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Each player has a memory of the previous three or more) rounds on which to base his strategy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Strategies are deterministic - for a given history </a:t>
            </a:r>
            <a:r>
              <a:rPr lang="en-US" altLang="en-US" sz="2800" i="1" dirty="0"/>
              <a:t>h</a:t>
            </a:r>
            <a:r>
              <a:rPr lang="en-US" altLang="en-US" sz="2800" dirty="0"/>
              <a:t> players will always make the same move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With 4 possible configurations in each round and a history of 3, each strategy is comprised of 4</a:t>
            </a:r>
            <a:r>
              <a:rPr lang="en-US" altLang="en-US" sz="2800" baseline="30000" dirty="0"/>
              <a:t>3</a:t>
            </a:r>
            <a:r>
              <a:rPr lang="en-US" altLang="en-US" sz="2800" dirty="0"/>
              <a:t> = 64 moves</a:t>
            </a:r>
          </a:p>
        </p:txBody>
      </p:sp>
    </p:spTree>
    <p:extLst>
      <p:ext uri="{BB962C8B-B14F-4D97-AF65-F5344CB8AC3E}">
        <p14:creationId xmlns:p14="http://schemas.microsoft.com/office/powerpoint/2010/main" val="2178982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E9337CDA-F545-4B74-802D-FCB9CA6C7102}" type="datetime1">
              <a:rPr lang="en-US" altLang="en-US" sz="1400"/>
              <a:pPr/>
              <a:t>1/27/2026</a:t>
            </a:fld>
            <a:endParaRPr lang="en-US" altLang="en-US" sz="1400"/>
          </a:p>
        </p:txBody>
      </p:sp>
      <p:sp>
        <p:nvSpPr>
          <p:cNvPr id="389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2AB3E534-D80E-48D1-B4E6-AEEBE4B31ED0}" type="slidenum">
              <a:rPr lang="en-US" altLang="en-US" sz="1400"/>
              <a:pPr/>
              <a:t>9</a:t>
            </a:fld>
            <a:endParaRPr lang="en-US" altLang="en-US" sz="1400"/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-65" charset="-128"/>
              </a:rPr>
              <a:t>Axelrod’s Experiments (1984)</a:t>
            </a: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-65" charset="-128"/>
              </a:rPr>
              <a:t>Intuitively, expectation of future encounters may affect rationality of defection</a:t>
            </a:r>
          </a:p>
          <a:p>
            <a:pPr eaLnBrk="1" hangingPunct="1"/>
            <a:r>
              <a:rPr lang="en-US" altLang="en-US" dirty="0">
                <a:ea typeface="ＭＳ Ｐゴシック" pitchFamily="-65" charset="-128"/>
              </a:rPr>
              <a:t>Various programs compete for 200 rounds</a:t>
            </a:r>
          </a:p>
          <a:p>
            <a:pPr lvl="1" eaLnBrk="1" hangingPunct="1"/>
            <a:r>
              <a:rPr lang="en-US" altLang="en-US" dirty="0">
                <a:ea typeface="ＭＳ Ｐゴシック" pitchFamily="-65" charset="-128"/>
              </a:rPr>
              <a:t>encounters each other and self</a:t>
            </a:r>
          </a:p>
          <a:p>
            <a:pPr eaLnBrk="1" hangingPunct="1"/>
            <a:r>
              <a:rPr lang="en-US" altLang="en-US" dirty="0">
                <a:ea typeface="ＭＳ Ｐゴシック" pitchFamily="-65" charset="-128"/>
              </a:rPr>
              <a:t>Each program can remember:</a:t>
            </a:r>
          </a:p>
          <a:p>
            <a:pPr lvl="1" eaLnBrk="1" hangingPunct="1"/>
            <a:r>
              <a:rPr lang="en-US" altLang="en-US" dirty="0">
                <a:ea typeface="ＭＳ Ｐゴシック" pitchFamily="-65" charset="-128"/>
              </a:rPr>
              <a:t>its own past actions</a:t>
            </a:r>
          </a:p>
          <a:p>
            <a:pPr lvl="1" eaLnBrk="1" hangingPunct="1"/>
            <a:r>
              <a:rPr lang="en-US" altLang="en-US" dirty="0">
                <a:ea typeface="ＭＳ Ｐゴシック" pitchFamily="-65" charset="-128"/>
              </a:rPr>
              <a:t>its competitors’ past actions</a:t>
            </a:r>
          </a:p>
          <a:p>
            <a:pPr eaLnBrk="1" hangingPunct="1"/>
            <a:r>
              <a:rPr lang="en-US" altLang="en-US" dirty="0">
                <a:ea typeface="ＭＳ Ｐゴシック" pitchFamily="-65" charset="-128"/>
              </a:rPr>
              <a:t>14 programs submitted for first experiment</a:t>
            </a:r>
          </a:p>
        </p:txBody>
      </p:sp>
    </p:spTree>
    <p:extLst>
      <p:ext uri="{BB962C8B-B14F-4D97-AF65-F5344CB8AC3E}">
        <p14:creationId xmlns:p14="http://schemas.microsoft.com/office/powerpoint/2010/main" val="1872088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191D416C-8B89-483E-A925-13B2A15DCD4E}" type="datetime1">
              <a:rPr lang="en-US" altLang="en-US" sz="1400"/>
              <a:pPr/>
              <a:t>1/27/2026</a:t>
            </a:fld>
            <a:endParaRPr lang="en-US" altLang="en-US" sz="1400"/>
          </a:p>
        </p:txBody>
      </p:sp>
      <p:sp>
        <p:nvSpPr>
          <p:cNvPr id="409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72640698-6A65-4A86-BFD8-A8FE45F8A7DC}" type="slidenum">
              <a:rPr lang="en-US" altLang="en-US" sz="1400"/>
              <a:pPr/>
              <a:t>10</a:t>
            </a:fld>
            <a:endParaRPr lang="en-US" altLang="en-US" sz="1400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itchFamily="-65" charset="-128"/>
              </a:rPr>
              <a:t>IPD Payoff Matrix</a:t>
            </a:r>
          </a:p>
        </p:txBody>
      </p:sp>
      <p:graphicFrame>
        <p:nvGraphicFramePr>
          <p:cNvPr id="94250" name="Group 42"/>
          <p:cNvGraphicFramePr>
            <a:graphicFrameLocks noGrp="1"/>
          </p:cNvGraphicFramePr>
          <p:nvPr>
            <p:ph type="tbl" idx="1"/>
          </p:nvPr>
        </p:nvGraphicFramePr>
        <p:xfrm>
          <a:off x="1295400" y="1600200"/>
          <a:ext cx="6781800" cy="36576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 rowSpan="2"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ＭＳ Ｐゴシック" pitchFamily="-65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B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ＭＳ Ｐゴシック" pitchFamily="-65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cooperate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defect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A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ＭＳ Ｐゴシック" pitchFamily="-65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cooperate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3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3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ＭＳ Ｐゴシック" pitchFamily="-65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5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ＭＳ Ｐゴシック" pitchFamily="-65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defect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5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0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ＭＳ Ｐゴシック" pitchFamily="-65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1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1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ＭＳ Ｐゴシック" pitchFamily="-65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4800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97D5604D-033F-43A7-8A6A-008D8542A9A9}" type="datetime1">
              <a:rPr lang="en-US" altLang="en-US" sz="1400"/>
              <a:pPr/>
              <a:t>1/27/2026</a:t>
            </a:fld>
            <a:endParaRPr lang="en-US" altLang="en-US" sz="1400"/>
          </a:p>
        </p:txBody>
      </p:sp>
      <p:sp>
        <p:nvSpPr>
          <p:cNvPr id="430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12724000-2178-4756-B8C6-543D31C63E15}" type="slidenum">
              <a:rPr lang="en-US" altLang="en-US" sz="1400"/>
              <a:pPr/>
              <a:t>11</a:t>
            </a:fld>
            <a:endParaRPr lang="en-US" altLang="en-US" sz="1400"/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itchFamily="-65" charset="-128"/>
              </a:rPr>
              <a:t>Indefinite Number</a:t>
            </a:r>
            <a:br>
              <a:rPr lang="en-US" altLang="en-US">
                <a:ea typeface="ＭＳ Ｐゴシック" pitchFamily="-65" charset="-128"/>
              </a:rPr>
            </a:br>
            <a:r>
              <a:rPr lang="en-US" altLang="en-US">
                <a:ea typeface="ＭＳ Ｐゴシック" pitchFamily="-65" charset="-128"/>
              </a:rPr>
              <a:t>of Future Encounters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itchFamily="-65" charset="-128"/>
              </a:rPr>
              <a:t>Cooperation depends on expectation of </a:t>
            </a:r>
            <a:r>
              <a:rPr lang="en-US" altLang="en-US">
                <a:solidFill>
                  <a:srgbClr val="800000"/>
                </a:solidFill>
                <a:ea typeface="ＭＳ Ｐゴシック" pitchFamily="-65" charset="-128"/>
              </a:rPr>
              <a:t>indefinite</a:t>
            </a:r>
            <a:r>
              <a:rPr lang="en-US" altLang="en-US">
                <a:ea typeface="ＭＳ Ｐゴシック" pitchFamily="-65" charset="-128"/>
              </a:rPr>
              <a:t> number of future encounters</a:t>
            </a:r>
          </a:p>
          <a:p>
            <a:pPr eaLnBrk="1" hangingPunct="1"/>
            <a:r>
              <a:rPr lang="en-US" altLang="en-US">
                <a:ea typeface="ＭＳ Ｐゴシック" pitchFamily="-65" charset="-128"/>
              </a:rPr>
              <a:t>Suppose a known finite number of encounters:</a:t>
            </a:r>
          </a:p>
          <a:p>
            <a:pPr lvl="1" eaLnBrk="1" hangingPunct="1"/>
            <a:r>
              <a:rPr lang="en-US" altLang="en-US">
                <a:ea typeface="ＭＳ Ｐゴシック" pitchFamily="-65" charset="-128"/>
              </a:rPr>
              <a:t>No reason to C on last encounter</a:t>
            </a:r>
          </a:p>
          <a:p>
            <a:pPr lvl="1" eaLnBrk="1" hangingPunct="1"/>
            <a:r>
              <a:rPr lang="en-US" altLang="en-US">
                <a:ea typeface="ＭＳ Ｐゴシック" pitchFamily="-65" charset="-128"/>
              </a:rPr>
              <a:t>Since expect D on last, no reason to C on next to last</a:t>
            </a:r>
          </a:p>
          <a:p>
            <a:pPr lvl="1" eaLnBrk="1" hangingPunct="1"/>
            <a:r>
              <a:rPr lang="en-US" altLang="en-US">
                <a:ea typeface="ＭＳ Ｐゴシック" pitchFamily="-65" charset="-128"/>
              </a:rPr>
              <a:t>And so forth: there is no reason to C at all</a:t>
            </a:r>
          </a:p>
        </p:txBody>
      </p:sp>
    </p:spTree>
    <p:extLst>
      <p:ext uri="{BB962C8B-B14F-4D97-AF65-F5344CB8AC3E}">
        <p14:creationId xmlns:p14="http://schemas.microsoft.com/office/powerpoint/2010/main" val="374965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 bldLvl="2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C1285CFB-0EE7-4980-B9D7-F4D945DB4F2F}" type="datetime1">
              <a:rPr lang="en-US" altLang="en-US" sz="1400"/>
              <a:pPr/>
              <a:t>1/27/2026</a:t>
            </a:fld>
            <a:endParaRPr lang="en-US" altLang="en-US" sz="1400"/>
          </a:p>
        </p:txBody>
      </p:sp>
      <p:sp>
        <p:nvSpPr>
          <p:cNvPr id="450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E87CA39D-EB44-4544-8F65-DD9962928A22}" type="slidenum">
              <a:rPr lang="en-US" altLang="en-US" sz="1400"/>
              <a:pPr/>
              <a:t>12</a:t>
            </a:fld>
            <a:endParaRPr lang="en-US" altLang="en-US" sz="1400"/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itchFamily="-65" charset="-128"/>
              </a:rPr>
              <a:t>Analysis of Some Simple Strategies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itchFamily="-65" charset="-128"/>
              </a:rPr>
              <a:t>Three simple strategies: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ea typeface="ＭＳ Ｐゴシック" pitchFamily="-65" charset="-128"/>
              </a:rPr>
              <a:t>ALL-D</a:t>
            </a:r>
            <a:r>
              <a:rPr lang="en-US" altLang="en-US">
                <a:ea typeface="ＭＳ Ｐゴシック" pitchFamily="-65" charset="-128"/>
              </a:rPr>
              <a:t>: always defect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ea typeface="ＭＳ Ｐゴシック" pitchFamily="-65" charset="-128"/>
              </a:rPr>
              <a:t>ALL-C</a:t>
            </a:r>
            <a:r>
              <a:rPr lang="en-US" altLang="en-US">
                <a:ea typeface="ＭＳ Ｐゴシック" pitchFamily="-65" charset="-128"/>
              </a:rPr>
              <a:t>: always cooperate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ea typeface="ＭＳ Ｐゴシック" pitchFamily="-65" charset="-128"/>
              </a:rPr>
              <a:t>RAND</a:t>
            </a:r>
            <a:r>
              <a:rPr lang="en-US" altLang="en-US">
                <a:ea typeface="ＭＳ Ｐゴシック" pitchFamily="-65" charset="-128"/>
              </a:rPr>
              <a:t>: randomly cooperate/defect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itchFamily="-65" charset="-128"/>
              </a:rPr>
              <a:t>Effectiveness depends on environment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ea typeface="ＭＳ Ｐゴシック" pitchFamily="-65" charset="-128"/>
              </a:rPr>
              <a:t>ALL-D</a:t>
            </a:r>
            <a:r>
              <a:rPr lang="en-US" altLang="en-US">
                <a:ea typeface="ＭＳ Ｐゴシック" pitchFamily="-65" charset="-128"/>
              </a:rPr>
              <a:t> optimizes local (individual) fitness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ea typeface="ＭＳ Ｐゴシック" pitchFamily="-65" charset="-128"/>
              </a:rPr>
              <a:t>ALL-C</a:t>
            </a:r>
            <a:r>
              <a:rPr lang="en-US" altLang="en-US">
                <a:ea typeface="ＭＳ Ｐゴシック" pitchFamily="-65" charset="-128"/>
              </a:rPr>
              <a:t> optimizes global (population) fitness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ea typeface="ＭＳ Ｐゴシック" pitchFamily="-65" charset="-128"/>
              </a:rPr>
              <a:t>RAND</a:t>
            </a:r>
            <a:r>
              <a:rPr lang="en-US" altLang="en-US">
                <a:ea typeface="ＭＳ Ｐゴシック" pitchFamily="-65" charset="-128"/>
              </a:rPr>
              <a:t> compromises</a:t>
            </a:r>
          </a:p>
        </p:txBody>
      </p:sp>
    </p:spTree>
    <p:extLst>
      <p:ext uri="{BB962C8B-B14F-4D97-AF65-F5344CB8AC3E}">
        <p14:creationId xmlns:p14="http://schemas.microsoft.com/office/powerpoint/2010/main" val="218262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 bldLvl="2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A6C766F8-4D2C-4E30-867B-68776D4DC468}" type="datetime1">
              <a:rPr lang="en-US" altLang="en-US" sz="1400"/>
              <a:pPr/>
              <a:t>1/27/2026</a:t>
            </a:fld>
            <a:endParaRPr lang="en-US" altLang="en-US" sz="1400"/>
          </a:p>
        </p:txBody>
      </p:sp>
      <p:sp>
        <p:nvSpPr>
          <p:cNvPr id="471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6D35D720-7689-4C08-8692-A63B2BD68E55}" type="slidenum">
              <a:rPr lang="en-US" altLang="en-US" sz="1400"/>
              <a:pPr/>
              <a:t>13</a:t>
            </a:fld>
            <a:endParaRPr lang="en-US" altLang="en-US" sz="1400"/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itchFamily="-65" charset="-128"/>
              </a:rPr>
              <a:t>Expected Scores</a:t>
            </a:r>
          </a:p>
        </p:txBody>
      </p:sp>
      <p:graphicFrame>
        <p:nvGraphicFramePr>
          <p:cNvPr id="98351" name="Group 47"/>
          <p:cNvGraphicFramePr>
            <a:graphicFrameLocks noGrp="1"/>
          </p:cNvGraphicFramePr>
          <p:nvPr>
            <p:ph type="tbl" idx="1"/>
          </p:nvPr>
        </p:nvGraphicFramePr>
        <p:xfrm>
          <a:off x="457200" y="1752600"/>
          <a:ext cx="8229600" cy="41148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28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  <a:sym typeface="Symbol" pitchFamily="-111" charset="2"/>
                        </a:rPr>
                        <a:t>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playing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  <a:sym typeface="Symbol" pitchFamily="-111" charset="2"/>
                        </a:rPr>
                        <a:t>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ALL-C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RAND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ALL-D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Average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ALL-C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3.0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1.5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0.0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1.5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RAND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4.0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2.25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2.25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ALL-D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5.0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3.0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1.0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3.0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9477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19F7E2B9-C883-4EC7-B995-1245390CC254}" type="datetime1">
              <a:rPr lang="en-US" altLang="en-US" sz="1400"/>
              <a:pPr/>
              <a:t>1/27/2026</a:t>
            </a:fld>
            <a:endParaRPr lang="en-US" altLang="en-US" sz="1400"/>
          </a:p>
        </p:txBody>
      </p:sp>
      <p:sp>
        <p:nvSpPr>
          <p:cNvPr id="491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A9B83B1A-9FB4-46CB-B896-7DB812B1F2BD}" type="slidenum">
              <a:rPr lang="en-US" altLang="en-US" sz="1400"/>
              <a:pPr/>
              <a:t>14</a:t>
            </a:fld>
            <a:endParaRPr lang="en-US" altLang="en-US" sz="1400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itchFamily="-65" charset="-128"/>
              </a:rPr>
              <a:t>Result of Axelrod’s Experiments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-65" charset="-128"/>
              </a:rPr>
              <a:t>Winner is </a:t>
            </a:r>
            <a:r>
              <a:rPr lang="en-US" altLang="en-US" dirty="0" err="1">
                <a:ea typeface="ＭＳ Ｐゴシック" pitchFamily="-65" charset="-128"/>
              </a:rPr>
              <a:t>Rapoport’s</a:t>
            </a:r>
            <a:r>
              <a:rPr lang="en-US" altLang="en-US" dirty="0">
                <a:ea typeface="ＭＳ Ｐゴシック" pitchFamily="-65" charset="-128"/>
              </a:rPr>
              <a:t> </a:t>
            </a:r>
            <a:r>
              <a:rPr lang="en-US" altLang="en-US" b="1" dirty="0">
                <a:ea typeface="ＭＳ Ｐゴシック" pitchFamily="-65" charset="-128"/>
              </a:rPr>
              <a:t>TFT</a:t>
            </a:r>
            <a:r>
              <a:rPr lang="en-US" altLang="en-US" dirty="0">
                <a:ea typeface="ＭＳ Ｐゴシック" pitchFamily="-65" charset="-128"/>
              </a:rPr>
              <a:t> (Tit-for-Tat)</a:t>
            </a:r>
          </a:p>
          <a:p>
            <a:pPr lvl="1" eaLnBrk="1" hangingPunct="1"/>
            <a:r>
              <a:rPr lang="en-US" altLang="en-US" dirty="0">
                <a:ea typeface="ＭＳ Ｐゴシック" pitchFamily="-65" charset="-128"/>
              </a:rPr>
              <a:t>cooperate on first encounter</a:t>
            </a:r>
          </a:p>
          <a:p>
            <a:pPr lvl="1" eaLnBrk="1" hangingPunct="1"/>
            <a:r>
              <a:rPr lang="en-US" altLang="en-US" dirty="0">
                <a:ea typeface="ＭＳ Ｐゴシック" pitchFamily="-65" charset="-128"/>
              </a:rPr>
              <a:t>reply in kind on succeeding encounters</a:t>
            </a:r>
          </a:p>
          <a:p>
            <a:pPr eaLnBrk="1" hangingPunct="1"/>
            <a:r>
              <a:rPr lang="en-US" altLang="en-US" dirty="0">
                <a:ea typeface="ＭＳ Ｐゴシック" pitchFamily="-65" charset="-128"/>
              </a:rPr>
              <a:t>Second experiment:</a:t>
            </a:r>
          </a:p>
          <a:p>
            <a:pPr lvl="1" eaLnBrk="1" hangingPunct="1"/>
            <a:r>
              <a:rPr lang="en-US" altLang="en-US" dirty="0">
                <a:ea typeface="ＭＳ Ｐゴシック" pitchFamily="-65" charset="-128"/>
              </a:rPr>
              <a:t>62 programs</a:t>
            </a:r>
          </a:p>
          <a:p>
            <a:pPr lvl="1" eaLnBrk="1" hangingPunct="1"/>
            <a:r>
              <a:rPr lang="en-US" altLang="en-US" dirty="0">
                <a:ea typeface="ＭＳ Ｐゴシック" pitchFamily="-65" charset="-128"/>
              </a:rPr>
              <a:t>all known </a:t>
            </a:r>
            <a:r>
              <a:rPr lang="en-US" altLang="en-US" b="1" dirty="0">
                <a:ea typeface="ＭＳ Ｐゴシック" pitchFamily="-65" charset="-128"/>
              </a:rPr>
              <a:t>TFT</a:t>
            </a:r>
            <a:r>
              <a:rPr lang="en-US" altLang="en-US" dirty="0">
                <a:ea typeface="ＭＳ Ｐゴシック" pitchFamily="-65" charset="-128"/>
              </a:rPr>
              <a:t> was previous winner</a:t>
            </a:r>
          </a:p>
          <a:p>
            <a:pPr lvl="1" eaLnBrk="1" hangingPunct="1"/>
            <a:r>
              <a:rPr lang="en-US" altLang="en-US" b="1" dirty="0">
                <a:ea typeface="ＭＳ Ｐゴシック" pitchFamily="-65" charset="-128"/>
              </a:rPr>
              <a:t>TFT</a:t>
            </a:r>
            <a:r>
              <a:rPr lang="en-US" altLang="en-US" dirty="0">
                <a:ea typeface="ＭＳ Ｐゴシック" pitchFamily="-65" charset="-128"/>
              </a:rPr>
              <a:t> wins again</a:t>
            </a:r>
          </a:p>
        </p:txBody>
      </p:sp>
    </p:spTree>
    <p:extLst>
      <p:ext uri="{BB962C8B-B14F-4D97-AF65-F5344CB8AC3E}">
        <p14:creationId xmlns:p14="http://schemas.microsoft.com/office/powerpoint/2010/main" val="130798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347ABD4D-3FF3-4BA3-8FCB-E0E1525193AF}" type="datetime1">
              <a:rPr lang="en-US" altLang="en-US" sz="1400"/>
              <a:pPr/>
              <a:t>1/27/2026</a:t>
            </a:fld>
            <a:endParaRPr lang="en-US" altLang="en-US" sz="1400"/>
          </a:p>
        </p:txBody>
      </p:sp>
      <p:sp>
        <p:nvSpPr>
          <p:cNvPr id="512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fld id="{72E3EF6A-CA20-4193-A24B-D606247E014D}" type="slidenum">
              <a:rPr lang="en-US" altLang="en-US" sz="1400"/>
              <a:pPr/>
              <a:t>15</a:t>
            </a:fld>
            <a:endParaRPr lang="en-US" altLang="en-US" sz="1400"/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itchFamily="-65" charset="-128"/>
              </a:rPr>
              <a:t>Expected Scores</a:t>
            </a:r>
          </a:p>
        </p:txBody>
      </p:sp>
      <p:graphicFrame>
        <p:nvGraphicFramePr>
          <p:cNvPr id="98351" name="Group 47"/>
          <p:cNvGraphicFramePr>
            <a:graphicFrameLocks noGrp="1"/>
          </p:cNvGraphicFramePr>
          <p:nvPr>
            <p:ph type="tbl" idx="1"/>
          </p:nvPr>
        </p:nvGraphicFramePr>
        <p:xfrm>
          <a:off x="457200" y="990600"/>
          <a:ext cx="8229600" cy="5143500"/>
        </p:xfrm>
        <a:graphic>
          <a:graphicData uri="http://schemas.openxmlformats.org/drawingml/2006/table">
            <a:tbl>
              <a:tblPr/>
              <a:tblGrid>
                <a:gridCol w="1801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7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34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8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  <a:sym typeface="Symbol" pitchFamily="-111" charset="2"/>
                        </a:rPr>
                        <a:t>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playing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  <a:sym typeface="Symbol" pitchFamily="-111" charset="2"/>
                        </a:rPr>
                        <a:t>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ALL-C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RAND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ALL-D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TFT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Avg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ALL-C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3.0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1.5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0.0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3.0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1.875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RAND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4.0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2.25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2.25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2.25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ALL-D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5.0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3.0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1.0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1+4/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2.5+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TFT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FFC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3.0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FFC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2.25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FFC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1–1/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FFC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3.0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FFC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/>
                          <a:ea typeface="ＭＳ Ｐゴシック" pitchFamily="-65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ＭＳ Ｐゴシック" pitchFamily="-65" charset="-128"/>
                        </a:rPr>
                        <a:t>2.3125–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D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249" name="TextBox 5"/>
          <p:cNvSpPr txBox="1">
            <a:spLocks noChangeArrowheads="1"/>
          </p:cNvSpPr>
          <p:nvPr/>
        </p:nvSpPr>
        <p:spPr bwMode="auto">
          <a:xfrm>
            <a:off x="3810000" y="6172200"/>
            <a:ext cx="2220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ea typeface="ＭＳ Ｐゴシック" pitchFamily="-65" charset="-128"/>
              </a:defRPr>
            </a:lvl9pPr>
          </a:lstStyle>
          <a:p>
            <a:pPr algn="ctr"/>
            <a:r>
              <a:rPr lang="en-US" altLang="en-US"/>
              <a:t>N = #encounters</a:t>
            </a:r>
          </a:p>
        </p:txBody>
      </p:sp>
    </p:spTree>
    <p:extLst>
      <p:ext uri="{BB962C8B-B14F-4D97-AF65-F5344CB8AC3E}">
        <p14:creationId xmlns:p14="http://schemas.microsoft.com/office/powerpoint/2010/main" val="1442747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Genetic Algorithm</a:t>
            </a:r>
          </a:p>
        </p:txBody>
      </p:sp>
    </p:spTree>
    <p:extLst>
      <p:ext uri="{BB962C8B-B14F-4D97-AF65-F5344CB8AC3E}">
        <p14:creationId xmlns:p14="http://schemas.microsoft.com/office/powerpoint/2010/main" val="2703676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Model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4582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Darwinian Survival of the Fittest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Genetic representation of entities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Fitness function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Select most fit individuals to reproduce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Mutate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Traits of most fit will be passed 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Over time, the population will evolve to be more fit, optimal</a:t>
            </a:r>
          </a:p>
        </p:txBody>
      </p:sp>
    </p:spTree>
    <p:extLst>
      <p:ext uri="{BB962C8B-B14F-4D97-AF65-F5344CB8AC3E}">
        <p14:creationId xmlns:p14="http://schemas.microsoft.com/office/powerpoint/2010/main" val="3920451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610600" cy="1600200"/>
          </a:xfrm>
        </p:spPr>
        <p:txBody>
          <a:bodyPr/>
          <a:lstStyle/>
          <a:p>
            <a:pPr eaLnBrk="1" hangingPunct="1"/>
            <a:r>
              <a:rPr lang="en-US" altLang="en-US" dirty="0"/>
              <a:t>GA’s and the Prisoner’s Dilemma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05000"/>
            <a:ext cx="8305800" cy="4800600"/>
          </a:xfrm>
        </p:spPr>
        <p:txBody>
          <a:bodyPr/>
          <a:lstStyle/>
          <a:p>
            <a:pPr eaLnBrk="1" hangingPunct="1"/>
            <a:r>
              <a:rPr lang="en-US" altLang="en-US" dirty="0"/>
              <a:t>Population: 100 individuals</a:t>
            </a:r>
          </a:p>
          <a:p>
            <a:pPr eaLnBrk="1" hangingPunct="1"/>
            <a:r>
              <a:rPr lang="en-US" altLang="en-US" dirty="0"/>
              <a:t>Chromosome: 64-bit string representing a strategy </a:t>
            </a:r>
          </a:p>
          <a:p>
            <a:pPr eaLnBrk="1" hangingPunct="1"/>
            <a:r>
              <a:rPr lang="en-US" altLang="en-US" dirty="0"/>
              <a:t>A bit: a choice between the Cooperate or Defect move played for a specific configuration of past moves</a:t>
            </a:r>
          </a:p>
          <a:p>
            <a:pPr eaLnBrk="1" hangingPunct="1">
              <a:buFontTx/>
              <a:buNone/>
            </a:pPr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33854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body"/>
          </p:nvPr>
        </p:nvSpPr>
        <p:spPr>
          <a:xfrm>
            <a:off x="762000" y="685800"/>
            <a:ext cx="7772400" cy="5943600"/>
          </a:xfrm>
          <a:ln/>
        </p:spPr>
        <p:txBody>
          <a:bodyPr anchor="t"/>
          <a:lstStyle/>
          <a:p>
            <a:pPr marL="339725" indent="-339725" algn="l">
              <a:lnSpc>
                <a:spcPct val="90000"/>
              </a:lnSpc>
              <a:spcBef>
                <a:spcPts val="800"/>
              </a:spcBef>
              <a:buFont typeface="Times New Roman" pitchFamily="16" charset="0"/>
              <a:buChar char="•"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r>
              <a:rPr lang="en-GB" altLang="en-US" sz="3200" dirty="0"/>
              <a:t>Individuals = strategies</a:t>
            </a:r>
          </a:p>
          <a:p>
            <a:pPr marL="339725" indent="-339725" algn="l">
              <a:lnSpc>
                <a:spcPct val="90000"/>
              </a:lnSpc>
              <a:spcBef>
                <a:spcPts val="800"/>
              </a:spcBef>
              <a:buFont typeface="Times New Roman" pitchFamily="16" charset="0"/>
              <a:buChar char="•"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r>
              <a:rPr lang="en-GB" altLang="en-US" sz="3200" dirty="0"/>
              <a:t>How to encode a strategy by a string?</a:t>
            </a:r>
          </a:p>
          <a:p>
            <a:pPr marL="339725" indent="-339725" algn="l">
              <a:lnSpc>
                <a:spcPct val="90000"/>
              </a:lnSpc>
              <a:spcBef>
                <a:spcPts val="800"/>
              </a:spcBef>
              <a:buClrTx/>
              <a:buFontTx/>
              <a:buNone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endParaRPr lang="en-GB" altLang="en-US" sz="3200" dirty="0"/>
          </a:p>
          <a:p>
            <a:pPr marL="339725" indent="-339725" algn="l">
              <a:lnSpc>
                <a:spcPct val="90000"/>
              </a:lnSpc>
              <a:spcBef>
                <a:spcPts val="800"/>
              </a:spcBef>
              <a:buFont typeface="Times New Roman" pitchFamily="16" charset="0"/>
              <a:buChar char="•"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r>
              <a:rPr lang="en-GB" altLang="en-US" sz="3200" dirty="0"/>
              <a:t>Let memory depth of previous moves=1</a:t>
            </a:r>
          </a:p>
          <a:p>
            <a:pPr lvl="1" indent="-282575" algn="l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r>
              <a:rPr lang="en-GB" altLang="en-US" sz="2800" dirty="0"/>
              <a:t>Fix a canonical order of cases:</a:t>
            </a:r>
          </a:p>
          <a:p>
            <a:pPr lvl="1" indent="-282575" algn="l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r>
              <a:rPr lang="en-GB" altLang="en-US" sz="2800" dirty="0"/>
              <a:t>						A	B		</a:t>
            </a:r>
            <a:r>
              <a:rPr lang="en-GB" altLang="en-US" sz="2000" dirty="0"/>
              <a:t>2</a:t>
            </a:r>
            <a:r>
              <a:rPr lang="en-GB" altLang="en-US" sz="2000" baseline="30000" dirty="0"/>
              <a:t>4</a:t>
            </a:r>
            <a:r>
              <a:rPr lang="en-GB" altLang="en-US" sz="2000" dirty="0"/>
              <a:t>=16 possible strategies for A</a:t>
            </a:r>
          </a:p>
          <a:p>
            <a:pPr lvl="1" indent="-282575" algn="l"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–"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r>
              <a:rPr lang="en-GB" altLang="en-US" sz="2800" dirty="0"/>
              <a:t>Case 0:		C	C		C  D  C …</a:t>
            </a:r>
          </a:p>
          <a:p>
            <a:pPr lvl="1" indent="-282575" algn="l"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–"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r>
              <a:rPr lang="en-GB" altLang="en-US" sz="2800" dirty="0"/>
              <a:t>Case 1:		D	C		C  </a:t>
            </a:r>
            <a:r>
              <a:rPr lang="en-GB" altLang="en-US" sz="2800" dirty="0" err="1"/>
              <a:t>C</a:t>
            </a:r>
            <a:r>
              <a:rPr lang="en-GB" altLang="en-US" sz="2800" dirty="0"/>
              <a:t>  D …</a:t>
            </a:r>
          </a:p>
          <a:p>
            <a:pPr lvl="1" indent="-282575" algn="l"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–"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r>
              <a:rPr lang="en-GB" altLang="en-US" sz="2800" dirty="0"/>
              <a:t>Case 2:		C	D		C  </a:t>
            </a:r>
            <a:r>
              <a:rPr lang="en-GB" altLang="en-US" sz="2800" dirty="0" err="1"/>
              <a:t>C</a:t>
            </a:r>
            <a:r>
              <a:rPr lang="en-GB" altLang="en-US" sz="2800" dirty="0"/>
              <a:t>  </a:t>
            </a:r>
            <a:r>
              <a:rPr lang="en-GB" altLang="en-US" sz="2800" dirty="0" err="1"/>
              <a:t>C</a:t>
            </a:r>
            <a:r>
              <a:rPr lang="en-GB" altLang="en-US" sz="2800" dirty="0"/>
              <a:t> ...</a:t>
            </a:r>
          </a:p>
          <a:p>
            <a:pPr lvl="1" indent="-282575" algn="l">
              <a:lnSpc>
                <a:spcPct val="90000"/>
              </a:lnSpc>
              <a:spcBef>
                <a:spcPts val="700"/>
              </a:spcBef>
              <a:buFont typeface="Times New Roman" pitchFamily="16" charset="0"/>
              <a:buChar char="–"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r>
              <a:rPr lang="en-GB" altLang="en-US" sz="2800" dirty="0"/>
              <a:t>Case 3:		D	D		C  </a:t>
            </a:r>
            <a:r>
              <a:rPr lang="en-GB" altLang="en-US" sz="2800" dirty="0" err="1"/>
              <a:t>C</a:t>
            </a:r>
            <a:r>
              <a:rPr lang="en-GB" altLang="en-US" sz="2800" dirty="0"/>
              <a:t>  </a:t>
            </a:r>
            <a:r>
              <a:rPr lang="en-GB" altLang="en-US" sz="2800" dirty="0" err="1"/>
              <a:t>C</a:t>
            </a:r>
            <a:r>
              <a:rPr lang="en-GB" altLang="en-US" sz="2800" dirty="0"/>
              <a:t> …</a:t>
            </a:r>
          </a:p>
          <a:p>
            <a:pPr lvl="1" indent="-282575" algn="l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r>
              <a:rPr lang="en-US" altLang="en-US" sz="2800" dirty="0"/>
              <a:t>e.g. strategy encoding (for A): ‘CDCD’</a:t>
            </a:r>
          </a:p>
          <a:p>
            <a:pPr lvl="1" indent="-282575" algn="l">
              <a:lnSpc>
                <a:spcPct val="90000"/>
              </a:lnSpc>
              <a:spcBef>
                <a:spcPts val="700"/>
              </a:spcBef>
              <a:buClrTx/>
              <a:buFontTx/>
              <a:buNone/>
              <a:tabLst>
                <a:tab pos="339725" algn="l"/>
                <a:tab pos="444500" algn="l"/>
                <a:tab pos="893763" algn="l"/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</a:tabLst>
            </a:pPr>
            <a:endParaRPr lang="en-US" altLang="en-US" sz="2800" dirty="0"/>
          </a:p>
        </p:txBody>
      </p:sp>
      <p:sp>
        <p:nvSpPr>
          <p:cNvPr id="7170" name="Line 2"/>
          <p:cNvSpPr>
            <a:spLocks noChangeShapeType="1"/>
          </p:cNvSpPr>
          <p:nvPr/>
        </p:nvSpPr>
        <p:spPr bwMode="auto">
          <a:xfrm>
            <a:off x="3124200" y="3733800"/>
            <a:ext cx="21336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488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890" y="685799"/>
            <a:ext cx="5209310" cy="501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493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trategy&#10;&#10;Description automatically generated">
            <a:extLst>
              <a:ext uri="{FF2B5EF4-FFF2-40B4-BE49-F238E27FC236}">
                <a16:creationId xmlns:a16="http://schemas.microsoft.com/office/drawing/2014/main" id="{3DE6B7B9-268F-8687-9A7B-968EF25DE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275" y="561975"/>
            <a:ext cx="6267450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38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1524000" y="3324225"/>
          <a:ext cx="6097588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096000" imgH="210820" progId="Word.Document.8">
                  <p:embed/>
                </p:oleObj>
              </mc:Choice>
              <mc:Fallback>
                <p:oleObj name="Document" r:id="rId2" imgW="6096000" imgH="2108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324225"/>
                        <a:ext cx="6097588" cy="20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850151"/>
              </p:ext>
            </p:extLst>
          </p:nvPr>
        </p:nvGraphicFramePr>
        <p:xfrm>
          <a:off x="1066800" y="228600"/>
          <a:ext cx="6884988" cy="595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883400" imgH="5956300" progId="Excel.Sheet.8">
                  <p:embed/>
                </p:oleObj>
              </mc:Choice>
              <mc:Fallback>
                <p:oleObj name="Worksheet" r:id="rId4" imgW="6883400" imgH="59563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28600"/>
                        <a:ext cx="6884988" cy="59578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CBC03DEF-80C9-09ED-E8AC-178D604A1EEB}"/>
              </a:ext>
            </a:extLst>
          </p:cNvPr>
          <p:cNvSpPr txBox="1"/>
          <p:nvPr/>
        </p:nvSpPr>
        <p:spPr>
          <a:xfrm>
            <a:off x="1905000" y="6400800"/>
            <a:ext cx="511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strategy, then 2</a:t>
            </a:r>
            <a:r>
              <a:rPr lang="en-US" baseline="30000" dirty="0"/>
              <a:t>64</a:t>
            </a:r>
            <a:r>
              <a:rPr lang="en-US" dirty="0"/>
              <a:t> strategies are possible in total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03376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GA’s and PD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6775" y="1981200"/>
            <a:ext cx="7591425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Fitness: Each player competes against every other for 100 consecutive rounds, and a cumulative score is maintained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Selection: Roulette Wheel selection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Reproduction: Random point crossover with replacement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Mutation rate 0.001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b="1" dirty="0"/>
              <a:t>Generations: 1,000 generations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70165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Tit for Tat (TFT)</a:t>
            </a:r>
          </a:p>
        </p:txBody>
      </p:sp>
      <p:sp>
        <p:nvSpPr>
          <p:cNvPr id="38921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/>
              <a:t>The action chosen is based on the opponent’s last move.</a:t>
            </a:r>
          </a:p>
          <a:p>
            <a:pPr lvl="1"/>
            <a:r>
              <a:rPr lang="en-US" altLang="de-DE"/>
              <a:t>On the first turn, the previous move cannot be known, so always cooperate on the first move.</a:t>
            </a:r>
          </a:p>
          <a:p>
            <a:pPr lvl="1"/>
            <a:r>
              <a:rPr lang="en-US" altLang="de-DE"/>
              <a:t>Thereafter, always choose the opponent’s last move as your next move.</a:t>
            </a:r>
          </a:p>
        </p:txBody>
      </p:sp>
    </p:spTree>
    <p:extLst>
      <p:ext uri="{BB962C8B-B14F-4D97-AF65-F5344CB8AC3E}">
        <p14:creationId xmlns:p14="http://schemas.microsoft.com/office/powerpoint/2010/main" val="2985574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533400"/>
            <a:ext cx="7848600" cy="5562600"/>
          </a:xfrm>
        </p:spPr>
        <p:txBody>
          <a:bodyPr/>
          <a:lstStyle/>
          <a:p>
            <a:r>
              <a:rPr lang="en-US" altLang="de-DE"/>
              <a:t>Key Points of Tit for Tat</a:t>
            </a:r>
            <a:br>
              <a:rPr lang="en-US" altLang="de-DE"/>
            </a:br>
            <a:endParaRPr lang="en-US" altLang="de-DE"/>
          </a:p>
          <a:p>
            <a:pPr lvl="1"/>
            <a:r>
              <a:rPr lang="en-US" altLang="de-DE"/>
              <a:t>Nice; it cooperates on the first move.</a:t>
            </a:r>
          </a:p>
          <a:p>
            <a:pPr lvl="1"/>
            <a:r>
              <a:rPr lang="en-US" altLang="de-DE"/>
              <a:t>Regulatory; it punishes defection with defection.</a:t>
            </a:r>
          </a:p>
          <a:p>
            <a:pPr lvl="1"/>
            <a:r>
              <a:rPr lang="en-US" altLang="de-DE"/>
              <a:t>Forgiving; it continues cooperation after cooperation by the opponent.</a:t>
            </a:r>
          </a:p>
          <a:p>
            <a:pPr lvl="1"/>
            <a:r>
              <a:rPr lang="en-US" altLang="de-DE"/>
              <a:t>Clear; it is easy for opponent to guess the next move, so mutual benefit is easier to attain.</a:t>
            </a:r>
          </a:p>
        </p:txBody>
      </p:sp>
    </p:spTree>
    <p:extLst>
      <p:ext uri="{BB962C8B-B14F-4D97-AF65-F5344CB8AC3E}">
        <p14:creationId xmlns:p14="http://schemas.microsoft.com/office/powerpoint/2010/main" val="3356508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Tit for Two Tat (TF2T)</a:t>
            </a:r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/>
              <a:t>Same as Tit for Tat, but requires two consecutive defections for a defection to be returned.</a:t>
            </a:r>
          </a:p>
          <a:p>
            <a:pPr lvl="1"/>
            <a:r>
              <a:rPr lang="en-US" altLang="de-DE"/>
              <a:t>Cooperate on the first two moves.</a:t>
            </a:r>
          </a:p>
          <a:p>
            <a:pPr lvl="1"/>
            <a:r>
              <a:rPr lang="en-US" altLang="de-DE"/>
              <a:t>If the opponent defects twice in a row, choose defection as the next move.</a:t>
            </a:r>
          </a:p>
          <a:p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3989091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r>
              <a:rPr lang="en-US" altLang="de-DE"/>
              <a:t>Key Points of Tit for Two Tat</a:t>
            </a:r>
          </a:p>
          <a:p>
            <a:endParaRPr lang="en-US" altLang="de-DE"/>
          </a:p>
          <a:p>
            <a:pPr lvl="1"/>
            <a:r>
              <a:rPr lang="en-US" altLang="de-DE"/>
              <a:t>When defection is the opponent’s first move, this strategy outperforms Tit for Tat</a:t>
            </a:r>
          </a:p>
          <a:p>
            <a:pPr lvl="1"/>
            <a:r>
              <a:rPr lang="en-US" altLang="de-DE"/>
              <a:t>Cooperating after the first defection causes the opponent to cooperate also.  Thus, in the long run, both players benefit more points.</a:t>
            </a:r>
          </a:p>
          <a:p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3816973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Suspicious Tit for Tat (STFT)</a:t>
            </a:r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de-DE"/>
              <a:t>Always defect on the first move.</a:t>
            </a:r>
          </a:p>
          <a:p>
            <a:r>
              <a:rPr lang="en-US" altLang="de-DE"/>
              <a:t>Thereafter, replicate opponent’s last move.</a:t>
            </a:r>
          </a:p>
          <a:p>
            <a:endParaRPr lang="en-US" altLang="de-DE"/>
          </a:p>
          <a:p>
            <a:r>
              <a:rPr lang="en-US" altLang="de-DE"/>
              <a:t>Key Points of Suspicious Tit for Tat</a:t>
            </a:r>
          </a:p>
          <a:p>
            <a:pPr lvl="1"/>
            <a:r>
              <a:rPr lang="en-US" altLang="de-DE"/>
              <a:t>If the opponent’s first move is defection, this strategy outperforms Tit for Tat</a:t>
            </a:r>
          </a:p>
          <a:p>
            <a:pPr lvl="1"/>
            <a:r>
              <a:rPr lang="en-US" altLang="de-DE"/>
              <a:t>However, it is generally worse than Tit for Tat. </a:t>
            </a:r>
          </a:p>
          <a:p>
            <a:pPr lvl="2"/>
            <a:r>
              <a:rPr lang="en-US" altLang="de-DE"/>
              <a:t>The first move is inconsequential compared to getting stuck in an infinite defection loop.</a:t>
            </a:r>
          </a:p>
        </p:txBody>
      </p:sp>
    </p:spTree>
    <p:extLst>
      <p:ext uri="{BB962C8B-B14F-4D97-AF65-F5344CB8AC3E}">
        <p14:creationId xmlns:p14="http://schemas.microsoft.com/office/powerpoint/2010/main" val="30903380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Free Rider (ALLD)</a:t>
            </a:r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/>
              <a:t>Always choose to defect no matter what the opponent’s last turn was.</a:t>
            </a:r>
          </a:p>
          <a:p>
            <a:endParaRPr lang="en-US" altLang="de-DE"/>
          </a:p>
          <a:p>
            <a:r>
              <a:rPr lang="en-US" altLang="de-DE"/>
              <a:t>This is a dominant strategy against an opponent that has a tendency to cooperate.</a:t>
            </a:r>
          </a:p>
        </p:txBody>
      </p:sp>
    </p:spTree>
    <p:extLst>
      <p:ext uri="{BB962C8B-B14F-4D97-AF65-F5344CB8AC3E}">
        <p14:creationId xmlns:p14="http://schemas.microsoft.com/office/powerpoint/2010/main" val="25938389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Always Cooperate (ALLC)</a:t>
            </a:r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/>
              <a:t>Always choose to cooperate no matter what the opponent’s last turn was.</a:t>
            </a:r>
          </a:p>
          <a:p>
            <a:endParaRPr lang="en-US" altLang="de-DE"/>
          </a:p>
          <a:p>
            <a:r>
              <a:rPr lang="en-US" altLang="de-DE"/>
              <a:t>This strategy can be terribly abused by the Free Rider Strategy. </a:t>
            </a:r>
          </a:p>
          <a:p>
            <a:pPr lvl="1"/>
            <a:r>
              <a:rPr lang="en-US" altLang="de-DE"/>
              <a:t>Or even a strategy that tends towards defection.</a:t>
            </a:r>
          </a:p>
        </p:txBody>
      </p:sp>
    </p:spTree>
    <p:extLst>
      <p:ext uri="{BB962C8B-B14F-4D97-AF65-F5344CB8AC3E}">
        <p14:creationId xmlns:p14="http://schemas.microsoft.com/office/powerpoint/2010/main" val="41585365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300" y="243512"/>
            <a:ext cx="81534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and compare different optimization methods (GA, EDA, hill climbing, tabu search…) to find the best possible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Try different parameters of the optimization methods (like population size or mutation probability for GA)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Try different memory depth: 3, 4, 5…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Try to compete against human designed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Compared the obtained strategies with TFT, TF2T or STFT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machine learning to try to predict if a strategy will be good or not. How to build the train set? What size? How to evaluate?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Compare different machine learning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you extract some patterns or some rules from the good strategies?</a:t>
            </a:r>
          </a:p>
        </p:txBody>
      </p:sp>
    </p:spTree>
    <p:extLst>
      <p:ext uri="{BB962C8B-B14F-4D97-AF65-F5344CB8AC3E}">
        <p14:creationId xmlns:p14="http://schemas.microsoft.com/office/powerpoint/2010/main" val="203855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5872</TotalTime>
  <Words>1835</Words>
  <Application>Microsoft Office PowerPoint</Application>
  <PresentationFormat>Affichage à l'écran (4:3)</PresentationFormat>
  <Paragraphs>347</Paragraphs>
  <Slides>31</Slides>
  <Notes>15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31</vt:i4>
      </vt:variant>
    </vt:vector>
  </HeadingPairs>
  <TitlesOfParts>
    <vt:vector size="40" baseType="lpstr">
      <vt:lpstr>ＭＳ Ｐゴシック</vt:lpstr>
      <vt:lpstr>Arial</vt:lpstr>
      <vt:lpstr>Calibri</vt:lpstr>
      <vt:lpstr>Symbol</vt:lpstr>
      <vt:lpstr>Times</vt:lpstr>
      <vt:lpstr>Times New Roman</vt:lpstr>
      <vt:lpstr>Office Theme</vt:lpstr>
      <vt:lpstr>Document</vt:lpstr>
      <vt:lpstr>Worksheet</vt:lpstr>
      <vt:lpstr>Prisoners’ Dilemma: The Story</vt:lpstr>
      <vt:lpstr>Prisoners’ Dilemma Payoff Matrix</vt:lpstr>
      <vt:lpstr>Ann’s “Rational” Analysis (Dominant Strategy)</vt:lpstr>
      <vt:lpstr>Bob’s “Rational” Analysis (Dominant Strategy)</vt:lpstr>
      <vt:lpstr>Suboptimal Result of “Rational” Analysis</vt:lpstr>
      <vt:lpstr>Summary</vt:lpstr>
      <vt:lpstr>The Iterated Prisoners’ Dilemma</vt:lpstr>
      <vt:lpstr>Iterated Game</vt:lpstr>
      <vt:lpstr>Axelrod’s Experiments (1984)</vt:lpstr>
      <vt:lpstr>IPD Payoff Matrix</vt:lpstr>
      <vt:lpstr>Indefinite Number of Future Encounters</vt:lpstr>
      <vt:lpstr>Analysis of Some Simple Strategies</vt:lpstr>
      <vt:lpstr>Expected Scores</vt:lpstr>
      <vt:lpstr>Result of Axelrod’s Experiments</vt:lpstr>
      <vt:lpstr>Expected Scores</vt:lpstr>
      <vt:lpstr>The Genetic Algorithm</vt:lpstr>
      <vt:lpstr>The Model</vt:lpstr>
      <vt:lpstr>GA’s and the Prisoner’s Dilemma</vt:lpstr>
      <vt:lpstr>Présentation PowerPoint</vt:lpstr>
      <vt:lpstr>Présentation PowerPoint</vt:lpstr>
      <vt:lpstr>Présentation PowerPoint</vt:lpstr>
      <vt:lpstr>Présentation PowerPoint</vt:lpstr>
      <vt:lpstr>GA’s and PD</vt:lpstr>
      <vt:lpstr>Tit for Tat (TFT)</vt:lpstr>
      <vt:lpstr>Présentation PowerPoint</vt:lpstr>
      <vt:lpstr>Tit for Two Tat (TF2T)</vt:lpstr>
      <vt:lpstr>Présentation PowerPoint</vt:lpstr>
      <vt:lpstr>Suspicious Tit for Tat (STFT)</vt:lpstr>
      <vt:lpstr>Free Rider (ALLD)</vt:lpstr>
      <vt:lpstr>Always Cooperate (ALLC)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RGras</dc:creator>
  <cp:lastModifiedBy>Robin Gras</cp:lastModifiedBy>
  <cp:revision>20</cp:revision>
  <dcterms:created xsi:type="dcterms:W3CDTF">2015-01-05T21:01:18Z</dcterms:created>
  <dcterms:modified xsi:type="dcterms:W3CDTF">2026-01-27T16:23:17Z</dcterms:modified>
</cp:coreProperties>
</file>